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266" r:id="rId5"/>
    <p:sldId id="267" r:id="rId6"/>
    <p:sldId id="269" r:id="rId7"/>
    <p:sldId id="268" r:id="rId8"/>
    <p:sldId id="280" r:id="rId9"/>
    <p:sldId id="281" r:id="rId10"/>
    <p:sldId id="271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2" r:id="rId21"/>
    <p:sldId id="285" r:id="rId22"/>
    <p:sldId id="283" r:id="rId23"/>
    <p:sldId id="286" r:id="rId24"/>
    <p:sldId id="287" r:id="rId25"/>
    <p:sldId id="288" r:id="rId26"/>
    <p:sldId id="289" r:id="rId27"/>
    <p:sldId id="290" r:id="rId28"/>
    <p:sldId id="292" r:id="rId29"/>
    <p:sldId id="303" r:id="rId30"/>
    <p:sldId id="293" r:id="rId31"/>
    <p:sldId id="294" r:id="rId32"/>
    <p:sldId id="291" r:id="rId33"/>
    <p:sldId id="295" r:id="rId34"/>
    <p:sldId id="296" r:id="rId35"/>
    <p:sldId id="297" r:id="rId36"/>
    <p:sldId id="304" r:id="rId37"/>
    <p:sldId id="301" r:id="rId38"/>
    <p:sldId id="302" r:id="rId39"/>
    <p:sldId id="298" r:id="rId40"/>
    <p:sldId id="299" r:id="rId41"/>
    <p:sldId id="300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7EAB932-A1A6-4A03-B338-53E8C7FEFCD4}" type="datetime1">
              <a:rPr lang="pl-PL" smtClean="0"/>
              <a:t>4.11.2025</a:t>
            </a:fld>
            <a:endParaRPr lang="pl-PL" dirty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4C531EA-3B14-40B9-94EF-FFD37E10845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53190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B1870-390F-4133-AA44-0216D05710AB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 dirty="0"/>
              <a:t>Kliknij, aby edytować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33D7A2-C585-48BF-BF8C-C21FDC051F77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pl-PL" smtClean="0"/>
              <a:t>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1333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  <a:endParaRPr lang="pl-PL" noProof="0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5A70444-AC2C-4128-A6A5-01FFF80FBED6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l-PL" noProof="0" smtClean="0"/>
              <a:pPr/>
              <a:t>‹#›</a:t>
            </a:fld>
            <a:endParaRPr lang="pl-PL" noProof="0" dirty="0"/>
          </a:p>
        </p:txBody>
      </p:sp>
      <p:grpSp>
        <p:nvGrpSpPr>
          <p:cNvPr id="7" name="Grupa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Dowolny kształt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Dowolny kształt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6CE0383-E545-477E-895A-3BD60095888A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5D9716-7AE3-4B96-9591-4B6FBCE9FD13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l-PL" noProof="0" smtClean="0"/>
              <a:pPr/>
              <a:t>‹#›</a:t>
            </a:fld>
            <a:endParaRPr lang="pl-PL" noProof="0" dirty="0"/>
          </a:p>
        </p:txBody>
      </p:sp>
      <p:sp>
        <p:nvSpPr>
          <p:cNvPr id="7" name="Dowolny kształt 6" title="Znacznik przycięcia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6BD5DDA-6A8F-4087-AAB7-10B2C7B8994E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7DF8C07-3AB7-4EE2-B48F-FAFF67C6F89A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49BEEA8-3C95-409D-A555-F649E1DA440A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23961D5-F4C8-4CDA-BBDE-4BBDE9B43CE2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 title="Kształt tła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2770CD-5BE6-4AB6-AB0F-6927BF0B2C8F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l-PL" noProof="0" smtClean="0"/>
              <a:pPr/>
              <a:t>‹#›</a:t>
            </a:fld>
            <a:endParaRPr lang="pl-PL" noProof="0" dirty="0"/>
          </a:p>
        </p:txBody>
      </p:sp>
      <p:sp>
        <p:nvSpPr>
          <p:cNvPr id="9" name="Prostokąt 8" title="Separato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 title="Kształt tła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1DA4B4-DC32-4659-9664-3D47F6C89A21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l-PL" noProof="0" smtClean="0"/>
              <a:pPr/>
              <a:t>‹#›</a:t>
            </a:fld>
            <a:endParaRPr lang="pl-PL" noProof="0" dirty="0"/>
          </a:p>
        </p:txBody>
      </p:sp>
      <p:sp>
        <p:nvSpPr>
          <p:cNvPr id="9" name="Prostokąt 8" title="Separato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5FFE2A0-6E2D-4FA1-93B1-9E3CF11F7C9C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494EAE8-A8BB-4312-BE6A-6C9FC4558245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pl-PL" noProof="0" smtClean="0"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noProof="0" dirty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 dirty="0"/>
              <a:t>Kliknij, aby edytować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B422AE4-DE56-4ABF-BAB7-6B82417C807D}" type="datetime1">
              <a:rPr lang="pl-PL" smtClean="0"/>
              <a:pPr/>
              <a:t>4.11.2025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pl-PL" noProof="0" smtClean="0"/>
              <a:pPr/>
              <a:t>‹#›</a:t>
            </a:fld>
            <a:endParaRPr lang="pl-PL" noProof="0" dirty="0"/>
          </a:p>
        </p:txBody>
      </p:sp>
      <p:sp>
        <p:nvSpPr>
          <p:cNvPr id="9" name="Prostokąt 8" title="Pasek boczny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PatrykChoinski/IoT-NodeRed-EnergyMeter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en.wikipedia.org/wiki/Union_typ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1880/#flow/16a9fef4be6ba735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27.0.0.1:1880/ui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1880/ui/" TargetMode="External"/><Relationship Id="rId2" Type="http://schemas.openxmlformats.org/officeDocument/2006/relationships/hyperlink" Target="http://127.0.0.1:1880/#flow/16a9fef4be6ba73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flows.nodered.org/node/node-red-dashboar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flows.nodered.org/node/node-red-contrib-opcua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PatrykChoinski/IoT-NodeRed-EnergyMeter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iot-nodered-energymeter-a0bgd5fhd3cwhsgj.polandcentral-01.azurewebsites.net/ui" TargetMode="External"/><Relationship Id="rId2" Type="http://schemas.openxmlformats.org/officeDocument/2006/relationships/hyperlink" Target="https://iot-nodered-energymeter-a0bgd5fhd3cwhsgj.polandcentral-01.azurewebsites.net/red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iot-nodered-energymeter-a0bgd5fhd3cwhsgj.polandcentral-01.azurewebsites.net/ui" TargetMode="External"/><Relationship Id="rId2" Type="http://schemas.openxmlformats.org/officeDocument/2006/relationships/hyperlink" Target="https://iot-nodered-energymeter-a0bgd5fhd3cwhsgj.polandcentral-01.azurewebsites.net/red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rostokąt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pic>
        <p:nvPicPr>
          <p:cNvPr id="23" name="Obraz 22" descr="ekstremalne zbliżenie grafiki przedstawiającej wykres liniowy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2" name="Dowolny kształt: Kształt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Prostokąt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 rtlCol="0">
            <a:normAutofit/>
          </a:bodyPr>
          <a:lstStyle/>
          <a:p>
            <a:pPr algn="l"/>
            <a:r>
              <a:rPr lang="pl-PL" sz="3600" dirty="0">
                <a:solidFill>
                  <a:srgbClr val="FFFFFF"/>
                </a:solidFill>
              </a:rPr>
              <a:t>INTERNET RZECZY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 rtlCol="0">
            <a:normAutofit fontScale="85000" lnSpcReduction="20000"/>
          </a:bodyPr>
          <a:lstStyle/>
          <a:p>
            <a:pPr algn="l" rtl="0">
              <a:spcAft>
                <a:spcPts val="600"/>
              </a:spcAft>
            </a:pPr>
            <a:r>
              <a:rPr lang="pl-PL" sz="1800" dirty="0">
                <a:solidFill>
                  <a:srgbClr val="FFFFFF"/>
                </a:solidFill>
              </a:rPr>
              <a:t>Patryk Choiński</a:t>
            </a:r>
            <a:br>
              <a:rPr lang="pl-PL" sz="1800" dirty="0">
                <a:solidFill>
                  <a:srgbClr val="FFFFFF"/>
                </a:solidFill>
              </a:rPr>
            </a:br>
            <a:r>
              <a:rPr lang="pl-PL" sz="1800" dirty="0">
                <a:solidFill>
                  <a:srgbClr val="FFFFFF"/>
                </a:solidFill>
              </a:rPr>
              <a:t>Rafał Celiński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A6983A-04E9-75CA-5A2A-F8D26E82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System odczytu liczników energii za pośrednictwem sieci </a:t>
            </a:r>
            <a:r>
              <a:rPr lang="pl-PL" dirty="0" err="1"/>
              <a:t>Modbus</a:t>
            </a:r>
            <a:r>
              <a:rPr lang="pl-PL" dirty="0"/>
              <a:t> RTU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4D325B3-AF62-B2D6-67FD-27E6CA17A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7304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CDDDE0-7DE0-2368-B43D-B0602363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INTERPRETACJA TEMATU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AE9613-EE39-ED82-B54E-D26A8C66E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54" y="1609724"/>
            <a:ext cx="273367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szechstronny kontroler Delta AX-8 - Induprogress">
            <a:extLst>
              <a:ext uri="{FF2B5EF4-FFF2-40B4-BE49-F238E27FC236}">
                <a16:creationId xmlns:a16="http://schemas.microsoft.com/office/drawing/2014/main" id="{1FAECE19-0BD2-80EF-18BE-35DB7867C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354" y="4037541"/>
            <a:ext cx="3810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596C255-DBCD-FBBB-EF9C-ED5B4E559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395" y="1362006"/>
            <a:ext cx="3456034" cy="220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B0E63D50-8440-829D-B8BE-F2E5D9805CCA}"/>
              </a:ext>
            </a:extLst>
          </p:cNvPr>
          <p:cNvCxnSpPr>
            <a:cxnSpLocks/>
            <a:stCxn id="1026" idx="2"/>
            <a:endCxn id="1028" idx="1"/>
          </p:cNvCxnSpPr>
          <p:nvPr/>
        </p:nvCxnSpPr>
        <p:spPr>
          <a:xfrm>
            <a:off x="2227792" y="3571874"/>
            <a:ext cx="2267562" cy="1818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C271404-E258-6991-2742-2A99FC4C07A8}"/>
              </a:ext>
            </a:extLst>
          </p:cNvPr>
          <p:cNvSpPr txBox="1"/>
          <p:nvPr/>
        </p:nvSpPr>
        <p:spPr>
          <a:xfrm>
            <a:off x="6105579" y="3668209"/>
            <a:ext cx="174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PLC Delta AX8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84C1444-5402-0937-5C4C-E3E50BF20310}"/>
              </a:ext>
            </a:extLst>
          </p:cNvPr>
          <p:cNvSpPr txBox="1"/>
          <p:nvPr/>
        </p:nvSpPr>
        <p:spPr>
          <a:xfrm>
            <a:off x="1015039" y="1240392"/>
            <a:ext cx="301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Miernik Energii Delta D520i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4259A97-B9F5-A11B-014A-9410665A1F50}"/>
              </a:ext>
            </a:extLst>
          </p:cNvPr>
          <p:cNvSpPr txBox="1"/>
          <p:nvPr/>
        </p:nvSpPr>
        <p:spPr>
          <a:xfrm>
            <a:off x="2977463" y="3756540"/>
            <a:ext cx="151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Modbus</a:t>
            </a:r>
            <a:r>
              <a:rPr lang="pl-PL" dirty="0"/>
              <a:t> RTU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EC59061-0F2D-B50F-05D8-FE80BE011863}"/>
              </a:ext>
            </a:extLst>
          </p:cNvPr>
          <p:cNvSpPr txBox="1"/>
          <p:nvPr/>
        </p:nvSpPr>
        <p:spPr>
          <a:xfrm>
            <a:off x="8671538" y="4000007"/>
            <a:ext cx="995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OPC UA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ABBE924-F6CE-B83F-B609-9823FC6615F1}"/>
              </a:ext>
            </a:extLst>
          </p:cNvPr>
          <p:cNvSpPr txBox="1"/>
          <p:nvPr/>
        </p:nvSpPr>
        <p:spPr>
          <a:xfrm>
            <a:off x="9334645" y="1055726"/>
            <a:ext cx="20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NodeRed</a:t>
            </a:r>
            <a:r>
              <a:rPr lang="pl-PL" dirty="0"/>
              <a:t> Server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710C521-48B3-3195-A5CC-7DCEB2EC6551}"/>
              </a:ext>
            </a:extLst>
          </p:cNvPr>
          <p:cNvSpPr txBox="1"/>
          <p:nvPr/>
        </p:nvSpPr>
        <p:spPr>
          <a:xfrm>
            <a:off x="9138203" y="4602716"/>
            <a:ext cx="1202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OpenVPN</a:t>
            </a:r>
            <a:endParaRPr lang="pl-PL" dirty="0"/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84D2810-DA9A-6D94-1547-D8EF08D24012}"/>
              </a:ext>
            </a:extLst>
          </p:cNvPr>
          <p:cNvCxnSpPr>
            <a:stCxn id="1028" idx="3"/>
            <a:endCxn id="1030" idx="2"/>
          </p:cNvCxnSpPr>
          <p:nvPr/>
        </p:nvCxnSpPr>
        <p:spPr>
          <a:xfrm flipV="1">
            <a:off x="8305354" y="3571874"/>
            <a:ext cx="2181058" cy="1818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49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9968CE-576D-3998-4F0C-591CA27C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ZESTAWIENIE SPRZĘTU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44765144-30F1-8F44-9BB2-C31122CD67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95083" y="1516591"/>
            <a:ext cx="6506633" cy="4879975"/>
          </a:xfr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5E721136-7CAD-407C-F9B2-BD60930BAC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87FD18A0-E1C5-194A-81C7-AB3C448BC8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856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7DF4-F3DA-81CE-F141-8D54C5A9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51377C-04F1-4B1F-2E10-8CFD61CB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TECHNOLOGIE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8B2E1FA-FD5D-1631-20A3-5833EE5859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6489BAD-8331-A0DC-1D0A-138FA6E9C3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13314" name="Picture 2" descr="What is Modbus RTU Protocol? - Serial Communication for PLCs and HMIs">
            <a:extLst>
              <a:ext uri="{FF2B5EF4-FFF2-40B4-BE49-F238E27FC236}">
                <a16:creationId xmlns:a16="http://schemas.microsoft.com/office/drawing/2014/main" id="{99D60FFE-8EE8-C3BF-444E-27E8C227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2727" r="95758">
                        <a14:foregroundMark x1="3030" y1="46667" x2="3030" y2="46667"/>
                        <a14:foregroundMark x1="6061" y1="46667" x2="6061" y2="46667"/>
                        <a14:foregroundMark x1="47879" y1="51000" x2="47879" y2="51000"/>
                        <a14:foregroundMark x1="58182" y1="47667" x2="58182" y2="47667"/>
                        <a14:foregroundMark x1="67273" y1="49000" x2="67273" y2="49000"/>
                        <a14:foregroundMark x1="78182" y1="48333" x2="78182" y2="48333"/>
                        <a14:foregroundMark x1="95758" y1="48333" x2="95758" y2="48333"/>
                        <a14:foregroundMark x1="95758" y1="50000" x2="95758" y2="50000"/>
                        <a14:foregroundMark x1="67576" y1="63333" x2="67576" y2="63333"/>
                        <a14:foregroundMark x1="73636" y1="63667" x2="73636" y2="63667"/>
                        <a14:foregroundMark x1="83939" y1="64000" x2="83939" y2="64000"/>
                        <a14:backgroundMark x1="67273" y1="61333" x2="67273" y2="61333"/>
                        <a14:backgroundMark x1="93333" y1="48333" x2="93333" y2="4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526" y="1802823"/>
            <a:ext cx="2124075" cy="193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Kurs EdgeLink cz. 3 - OPC UA">
            <a:extLst>
              <a:ext uri="{FF2B5EF4-FFF2-40B4-BE49-F238E27FC236}">
                <a16:creationId xmlns:a16="http://schemas.microsoft.com/office/drawing/2014/main" id="{B23D312C-470C-0F22-A085-AC3E31B88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508" y="2108024"/>
            <a:ext cx="2406650" cy="133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OpenVPN | Scaleway Marketplace">
            <a:extLst>
              <a:ext uri="{FF2B5EF4-FFF2-40B4-BE49-F238E27FC236}">
                <a16:creationId xmlns:a16="http://schemas.microsoft.com/office/drawing/2014/main" id="{43242F9D-AB73-70F8-972D-57637F096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9259" y1="31852" x2="29259" y2="31852"/>
                        <a14:foregroundMark x1="50556" y1="39815" x2="50556" y2="39815"/>
                        <a14:foregroundMark x1="20926" y1="79259" x2="20926" y2="79259"/>
                        <a14:foregroundMark x1="13704" y1="83148" x2="13704" y2="83148"/>
                        <a14:foregroundMark x1="26667" y1="79630" x2="26667" y2="79630"/>
                        <a14:foregroundMark x1="36481" y1="80741" x2="36481" y2="80741"/>
                        <a14:foregroundMark x1="48333" y1="80741" x2="48333" y2="80741"/>
                        <a14:foregroundMark x1="59815" y1="80370" x2="59815" y2="80370"/>
                        <a14:foregroundMark x1="71111" y1="80370" x2="71111" y2="80370"/>
                        <a14:foregroundMark x1="80556" y1="80370" x2="80556" y2="803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4" y="1843255"/>
            <a:ext cx="222885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CODESYS - Wikipedia">
            <a:extLst>
              <a:ext uri="{FF2B5EF4-FFF2-40B4-BE49-F238E27FC236}">
                <a16:creationId xmlns:a16="http://schemas.microsoft.com/office/drawing/2014/main" id="{6F1D61DB-2678-328E-7707-B87E55FD6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323" y="4155883"/>
            <a:ext cx="2406650" cy="192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UBC GitHub Instructor Guide | Learning Technology Hub">
            <a:extLst>
              <a:ext uri="{FF2B5EF4-FFF2-40B4-BE49-F238E27FC236}">
                <a16:creationId xmlns:a16="http://schemas.microsoft.com/office/drawing/2014/main" id="{30E8B977-1017-7850-9777-02EBEA8C0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820" y="4186405"/>
            <a:ext cx="3129847" cy="176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>
            <a:extLst>
              <a:ext uri="{FF2B5EF4-FFF2-40B4-BE49-F238E27FC236}">
                <a16:creationId xmlns:a16="http://schemas.microsoft.com/office/drawing/2014/main" id="{06CCBB79-7BB1-079E-C876-D847D2148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157" y="2445147"/>
            <a:ext cx="3403601" cy="98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Understanding GitHub Actions: Core Concepts and Fundamentals">
            <a:extLst>
              <a:ext uri="{FF2B5EF4-FFF2-40B4-BE49-F238E27FC236}">
                <a16:creationId xmlns:a16="http://schemas.microsoft.com/office/drawing/2014/main" id="{7B2938CE-7068-8681-D296-E2ABC7E55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27" y="4186405"/>
            <a:ext cx="3639631" cy="18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6" name="Picture 14" descr="Node-RED - Wikipedia">
            <a:extLst>
              <a:ext uri="{FF2B5EF4-FFF2-40B4-BE49-F238E27FC236}">
                <a16:creationId xmlns:a16="http://schemas.microsoft.com/office/drawing/2014/main" id="{F6AFBC7E-15AD-70EB-1D92-1120FFE62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433" y="4135340"/>
            <a:ext cx="1862667" cy="186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46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6B2A93-BB3F-A78D-E719-3C5096B0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Publiczne Repozytorium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623545-C4C2-147D-1998-3792E7701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11" y="1437216"/>
            <a:ext cx="8492456" cy="3581401"/>
          </a:xfrm>
        </p:spPr>
        <p:txBody>
          <a:bodyPr/>
          <a:lstStyle/>
          <a:p>
            <a:r>
              <a:rPr lang="pl-PL" dirty="0">
                <a:hlinkClick r:id="rId2"/>
              </a:rPr>
              <a:t>https://github.com/PatrykChoinski/IoT-NodeRed-EnergyMeter</a:t>
            </a:r>
            <a:endParaRPr lang="pl-PL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691F1CDF-9AEB-B92A-51F3-A219FF720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398" y="1923256"/>
            <a:ext cx="9601201" cy="475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1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45E733-2878-F390-5F94-5A1E2A28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Podłączenie Miernika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1089A4D-AC0A-C299-A01B-7B80D0047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1319915"/>
          </a:xfrm>
        </p:spPr>
        <p:txBody>
          <a:bodyPr/>
          <a:lstStyle/>
          <a:p>
            <a:r>
              <a:rPr lang="pl-PL" dirty="0"/>
              <a:t>Mierzymy prąd i napięcie z odbiornika, którym jest zasilacz 230VAC-&gt;24VDC. Miernik nie potrzebuje przekładnika CT.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DCD9FF-881C-BEC1-5AE4-9C2E104DE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927" y="3774333"/>
            <a:ext cx="1720073" cy="27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3184221-EBF9-2A81-C564-BFD667176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89" y="1304924"/>
            <a:ext cx="273367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szechstronny kontroler Delta AX-8 - Induprogress">
            <a:extLst>
              <a:ext uri="{FF2B5EF4-FFF2-40B4-BE49-F238E27FC236}">
                <a16:creationId xmlns:a16="http://schemas.microsoft.com/office/drawing/2014/main" id="{1221A21A-7A83-465A-559C-ADEBDA323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19" y="4069293"/>
            <a:ext cx="2961841" cy="210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933B9384-65A7-CFCF-86F7-953D9541AE81}"/>
              </a:ext>
            </a:extLst>
          </p:cNvPr>
          <p:cNvCxnSpPr>
            <a:stCxn id="4098" idx="1"/>
            <a:endCxn id="6" idx="3"/>
          </p:cNvCxnSpPr>
          <p:nvPr/>
        </p:nvCxnSpPr>
        <p:spPr>
          <a:xfrm flipH="1" flipV="1">
            <a:off x="3819760" y="5120747"/>
            <a:ext cx="556167" cy="2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C63DF3A-A81C-4858-7D64-FD9CBF55AFFE}"/>
              </a:ext>
            </a:extLst>
          </p:cNvPr>
          <p:cNvSpPr txBox="1"/>
          <p:nvPr/>
        </p:nvSpPr>
        <p:spPr>
          <a:xfrm>
            <a:off x="3504138" y="4657368"/>
            <a:ext cx="172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Zasilanie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88693CE-0B87-42B7-3E7F-77ADF112A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837" y="3572127"/>
            <a:ext cx="3596563" cy="285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54CF7CC4-1D3F-39AF-570D-EB667EA24123}"/>
              </a:ext>
            </a:extLst>
          </p:cNvPr>
          <p:cNvCxnSpPr>
            <a:endCxn id="5" idx="1"/>
          </p:cNvCxnSpPr>
          <p:nvPr/>
        </p:nvCxnSpPr>
        <p:spPr>
          <a:xfrm flipV="1">
            <a:off x="5819386" y="2285999"/>
            <a:ext cx="1617803" cy="1488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7B25573E-3917-702D-8849-7B7EFFD0B46A}"/>
              </a:ext>
            </a:extLst>
          </p:cNvPr>
          <p:cNvCxnSpPr/>
          <p:nvPr/>
        </p:nvCxnSpPr>
        <p:spPr>
          <a:xfrm flipH="1">
            <a:off x="6011333" y="2472267"/>
            <a:ext cx="1425856" cy="1302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5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ADB7-F888-DFA2-E48B-5164E9B04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247757-EA18-BD7F-A84D-B6DC8186A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MODBUS RTU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03BD83-E3D8-DCE9-26DF-7FF0B6DF3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20" y="1982258"/>
            <a:ext cx="273367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szechstronny kontroler Delta AX-8 - Induprogress">
            <a:extLst>
              <a:ext uri="{FF2B5EF4-FFF2-40B4-BE49-F238E27FC236}">
                <a16:creationId xmlns:a16="http://schemas.microsoft.com/office/drawing/2014/main" id="{0131BAD3-BB69-D972-2E01-925CAC781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617" y="1737782"/>
            <a:ext cx="3810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024B045F-9556-8E94-7AC2-58B3FDACD3C0}"/>
              </a:ext>
            </a:extLst>
          </p:cNvPr>
          <p:cNvCxnSpPr>
            <a:stCxn id="1026" idx="3"/>
            <a:endCxn id="1028" idx="1"/>
          </p:cNvCxnSpPr>
          <p:nvPr/>
        </p:nvCxnSpPr>
        <p:spPr>
          <a:xfrm>
            <a:off x="3628495" y="2963333"/>
            <a:ext cx="4579122" cy="126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ED7CF90-ABC5-7849-40DD-41B1E8A32C86}"/>
              </a:ext>
            </a:extLst>
          </p:cNvPr>
          <p:cNvSpPr txBox="1"/>
          <p:nvPr/>
        </p:nvSpPr>
        <p:spPr>
          <a:xfrm>
            <a:off x="9262533" y="1267367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Master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869EF63-C759-9342-6DFD-B67D01DAEBC3}"/>
              </a:ext>
            </a:extLst>
          </p:cNvPr>
          <p:cNvSpPr txBox="1"/>
          <p:nvPr/>
        </p:nvSpPr>
        <p:spPr>
          <a:xfrm>
            <a:off x="1618842" y="1540933"/>
            <a:ext cx="70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Slave</a:t>
            </a:r>
            <a:endParaRPr lang="pl-P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EBB246-88DA-420D-CD19-A4C05E8EE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075" y="3767669"/>
            <a:ext cx="30289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ole tekstowe 18">
            <a:extLst>
              <a:ext uri="{FF2B5EF4-FFF2-40B4-BE49-F238E27FC236}">
                <a16:creationId xmlns:a16="http://schemas.microsoft.com/office/drawing/2014/main" id="{89970946-5B32-71C1-90D5-B37E679C79F9}"/>
              </a:ext>
            </a:extLst>
          </p:cNvPr>
          <p:cNvSpPr txBox="1"/>
          <p:nvPr/>
        </p:nvSpPr>
        <p:spPr>
          <a:xfrm>
            <a:off x="4876800" y="2480733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Modbus</a:t>
            </a:r>
            <a:r>
              <a:rPr lang="pl-PL" dirty="0"/>
              <a:t> RTU</a:t>
            </a:r>
          </a:p>
        </p:txBody>
      </p:sp>
    </p:spTree>
    <p:extLst>
      <p:ext uri="{BB962C8B-B14F-4D97-AF65-F5344CB8AC3E}">
        <p14:creationId xmlns:p14="http://schemas.microsoft.com/office/powerpoint/2010/main" val="3789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47C1F-4772-24C8-FC14-91B78B15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F6414E-3828-994E-6BD2-13CA9C87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MODBUS RTU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B1896E5-56E6-EAB7-9435-1214802CAA35}"/>
              </a:ext>
            </a:extLst>
          </p:cNvPr>
          <p:cNvSpPr txBox="1"/>
          <p:nvPr/>
        </p:nvSpPr>
        <p:spPr>
          <a:xfrm>
            <a:off x="1625599" y="1428750"/>
            <a:ext cx="171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Dokumentacja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1B5244F-4A0E-C66F-6ECC-2F8484A09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98132"/>
            <a:ext cx="3457644" cy="447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567E704-6CCB-3E8B-87B7-0402D9A18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755" y="2057399"/>
            <a:ext cx="698182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52C6BF03-DA6C-5A84-0074-79C377C38D6A}"/>
              </a:ext>
            </a:extLst>
          </p:cNvPr>
          <p:cNvSpPr txBox="1"/>
          <p:nvPr/>
        </p:nvSpPr>
        <p:spPr>
          <a:xfrm>
            <a:off x="5210175" y="1477433"/>
            <a:ext cx="6595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Cykliczne czytanie </a:t>
            </a:r>
            <a:r>
              <a:rPr lang="pl-PL" dirty="0" err="1"/>
              <a:t>paramtertów</a:t>
            </a:r>
            <a:r>
              <a:rPr lang="pl-PL" dirty="0"/>
              <a:t> funkcja Read Holding </a:t>
            </a:r>
            <a:r>
              <a:rPr lang="pl-PL" dirty="0" err="1"/>
              <a:t>Registers</a:t>
            </a:r>
            <a:endParaRPr lang="pl-PL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2908D14C-8E94-B8EB-424F-AE9D2D314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755" y="4534983"/>
            <a:ext cx="6981824" cy="187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204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1B48-5E01-11E9-BFE2-16BD818C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1D88BA-1710-D6F9-85F1-12A17407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>
            <a:normAutofit fontScale="90000"/>
          </a:bodyPr>
          <a:lstStyle/>
          <a:p>
            <a:r>
              <a:rPr lang="pl-PL" dirty="0"/>
              <a:t>MODBUS 2x Word -&gt; </a:t>
            </a:r>
            <a:r>
              <a:rPr lang="pl-PL" dirty="0" err="1"/>
              <a:t>Float</a:t>
            </a:r>
            <a:r>
              <a:rPr lang="pl-PL" dirty="0"/>
              <a:t>. Jak to zrobić?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E6B16B0-D4D2-F7D8-FA67-C6182A7F6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755" y="2491552"/>
            <a:ext cx="6981824" cy="187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82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25AA-C503-A4EC-CF1E-D85BCFB32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683CB1-1ABC-9AE0-F77D-295CC744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pl-PL" dirty="0"/>
              <a:t>Oczywiście użycie Unii 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EC4A885-578F-84E9-811A-95E455708E5E}"/>
              </a:ext>
            </a:extLst>
          </p:cNvPr>
          <p:cNvSpPr txBox="1"/>
          <p:nvPr/>
        </p:nvSpPr>
        <p:spPr>
          <a:xfrm>
            <a:off x="1439333" y="142875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2"/>
              </a:rPr>
              <a:t>https://en.wikipedia.org/wiki/Union_type</a:t>
            </a:r>
            <a:endParaRPr lang="pl-PL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6B1A9D3-0013-D0B8-DBBF-03BAB75DB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3" y="2171700"/>
            <a:ext cx="5619750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C924878-91B2-E293-C8E3-B54074566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3" y="4277783"/>
            <a:ext cx="34671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B6F7513-4F26-1623-4337-71372CC56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867" y="3564493"/>
            <a:ext cx="2980267" cy="240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44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110C-B6EF-E39F-774F-906D4FD4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D9165E-4079-683E-0867-CC8BA7B7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pl-PL" dirty="0"/>
              <a:t>OPC UA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98F8588-236D-D008-E038-82BE007DF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1672696"/>
            <a:ext cx="3400425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83811F3-3880-B414-5CA8-AAB38F8F6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04913"/>
            <a:ext cx="5372100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206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D2E9-591C-C844-2C6E-64DB26E2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793EB0-FDAE-30F9-AA28-F322E963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pl-PL" dirty="0"/>
              <a:t>OPC UA – sprawdzenie OPC WATCH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99BFA68-859A-96F9-9EBA-D0EDF43D4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37740"/>
            <a:ext cx="10524067" cy="473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49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30AF-C6D8-40FC-7113-E40C469F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DC52EA-C358-9E45-1937-CA81B567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pl-PL" dirty="0"/>
              <a:t>Dostęp do węzła zmiennej w OPC UA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CC92802-C100-CBF4-3E4A-83571A0A9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2125133"/>
            <a:ext cx="2185206" cy="380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D5A57AE1-2D9B-79F7-D074-B0B885888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430" y="2980266"/>
            <a:ext cx="7232103" cy="184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41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502C-0267-D52F-C54A-E07F3BEF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CAC6D-4585-E0CF-AEF4-C497B9FD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pl-PL" dirty="0"/>
              <a:t>Konfiguracja </a:t>
            </a:r>
            <a:r>
              <a:rPr lang="pl-PL" dirty="0" err="1"/>
              <a:t>OpenVPN</a:t>
            </a:r>
            <a:endParaRPr lang="pl-PL" dirty="0"/>
          </a:p>
        </p:txBody>
      </p:sp>
      <p:pic>
        <p:nvPicPr>
          <p:cNvPr id="3" name="Picture 4" descr="Wszechstronny kontroler Delta AX-8 - Induprogress">
            <a:extLst>
              <a:ext uri="{FF2B5EF4-FFF2-40B4-BE49-F238E27FC236}">
                <a16:creationId xmlns:a16="http://schemas.microsoft.com/office/drawing/2014/main" id="{D4C6E8A9-C139-26C9-34EF-CF8EF6F01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464" y="1718583"/>
            <a:ext cx="2786311" cy="197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CF3103F-FB7B-1736-2202-30042C021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896" y="1899669"/>
            <a:ext cx="2527450" cy="161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84054E01-725A-70AC-C31B-FE193E929C2A}"/>
              </a:ext>
            </a:extLst>
          </p:cNvPr>
          <p:cNvSpPr txBox="1"/>
          <p:nvPr/>
        </p:nvSpPr>
        <p:spPr>
          <a:xfrm>
            <a:off x="1965379" y="1255209"/>
            <a:ext cx="174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PLC Delta AX8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64A091E-AA58-363F-E020-42ACD5E4AB9A}"/>
              </a:ext>
            </a:extLst>
          </p:cNvPr>
          <p:cNvSpPr txBox="1"/>
          <p:nvPr/>
        </p:nvSpPr>
        <p:spPr>
          <a:xfrm>
            <a:off x="9334644" y="1456262"/>
            <a:ext cx="20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NodeRed</a:t>
            </a:r>
            <a:r>
              <a:rPr lang="pl-PL" dirty="0"/>
              <a:t> Server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C613BC00-F938-FA09-BBD5-695ACF0C074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287775" y="2707724"/>
            <a:ext cx="4675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7DBC810-10C2-815E-8963-01B4448BA910}"/>
              </a:ext>
            </a:extLst>
          </p:cNvPr>
          <p:cNvSpPr txBox="1"/>
          <p:nvPr/>
        </p:nvSpPr>
        <p:spPr>
          <a:xfrm>
            <a:off x="5986636" y="2338391"/>
            <a:ext cx="145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Ethernet</a:t>
            </a:r>
          </a:p>
        </p:txBody>
      </p:sp>
      <p:pic>
        <p:nvPicPr>
          <p:cNvPr id="15" name="Picture 4" descr="Wszechstronny kontroler Delta AX-8 - Induprogress">
            <a:extLst>
              <a:ext uri="{FF2B5EF4-FFF2-40B4-BE49-F238E27FC236}">
                <a16:creationId xmlns:a16="http://schemas.microsoft.com/office/drawing/2014/main" id="{9A4DA64A-D7FF-E9DD-38C2-E527D3166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643" y="4323834"/>
            <a:ext cx="2786311" cy="197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1EFFE286-2416-64C2-E377-91F75CDE8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075" y="4504920"/>
            <a:ext cx="2527450" cy="161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DFF3E5D6-155E-28FF-DED6-6FFEB9C9CC82}"/>
              </a:ext>
            </a:extLst>
          </p:cNvPr>
          <p:cNvCxnSpPr/>
          <p:nvPr/>
        </p:nvCxnSpPr>
        <p:spPr>
          <a:xfrm flipV="1">
            <a:off x="1845733" y="1557867"/>
            <a:ext cx="9338734" cy="23791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Łącznik prosty 21">
            <a:extLst>
              <a:ext uri="{FF2B5EF4-FFF2-40B4-BE49-F238E27FC236}">
                <a16:creationId xmlns:a16="http://schemas.microsoft.com/office/drawing/2014/main" id="{2A63676A-6918-79F2-DBA9-70A622CBBC1D}"/>
              </a:ext>
            </a:extLst>
          </p:cNvPr>
          <p:cNvCxnSpPr/>
          <p:nvPr/>
        </p:nvCxnSpPr>
        <p:spPr>
          <a:xfrm>
            <a:off x="1608667" y="1255209"/>
            <a:ext cx="9865858" cy="26817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hmurka 22">
            <a:extLst>
              <a:ext uri="{FF2B5EF4-FFF2-40B4-BE49-F238E27FC236}">
                <a16:creationId xmlns:a16="http://schemas.microsoft.com/office/drawing/2014/main" id="{904F9748-4657-9316-3C79-5D2C3F9CA42E}"/>
              </a:ext>
            </a:extLst>
          </p:cNvPr>
          <p:cNvSpPr/>
          <p:nvPr/>
        </p:nvSpPr>
        <p:spPr>
          <a:xfrm>
            <a:off x="5175122" y="3315898"/>
            <a:ext cx="2900427" cy="194047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266" name="Picture 2" descr="OpenVPN | Scaleway Marketplace">
            <a:extLst>
              <a:ext uri="{FF2B5EF4-FFF2-40B4-BE49-F238E27FC236}">
                <a16:creationId xmlns:a16="http://schemas.microsoft.com/office/drawing/2014/main" id="{79E9F128-1820-F878-9638-6008E7D97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039" y="3785838"/>
            <a:ext cx="1000591" cy="100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C230BD6B-DC44-2E0E-65B7-12B1A73644DA}"/>
              </a:ext>
            </a:extLst>
          </p:cNvPr>
          <p:cNvCxnSpPr>
            <a:cxnSpLocks/>
          </p:cNvCxnSpPr>
          <p:nvPr/>
        </p:nvCxnSpPr>
        <p:spPr>
          <a:xfrm flipV="1">
            <a:off x="4271954" y="4563970"/>
            <a:ext cx="981559" cy="397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FBD23851-DA82-534C-667D-2E380C58CC7A}"/>
              </a:ext>
            </a:extLst>
          </p:cNvPr>
          <p:cNvCxnSpPr/>
          <p:nvPr/>
        </p:nvCxnSpPr>
        <p:spPr>
          <a:xfrm flipH="1">
            <a:off x="4271954" y="4411133"/>
            <a:ext cx="981559" cy="375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3070936B-F724-8617-0308-BCF651E2D6CF}"/>
              </a:ext>
            </a:extLst>
          </p:cNvPr>
          <p:cNvCxnSpPr/>
          <p:nvPr/>
        </p:nvCxnSpPr>
        <p:spPr>
          <a:xfrm>
            <a:off x="8009467" y="4411133"/>
            <a:ext cx="937608" cy="491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4" name="Łącznik prosty ze strzałką 11263">
            <a:extLst>
              <a:ext uri="{FF2B5EF4-FFF2-40B4-BE49-F238E27FC236}">
                <a16:creationId xmlns:a16="http://schemas.microsoft.com/office/drawing/2014/main" id="{27409DC1-0EA2-9479-776D-120CD4879F85}"/>
              </a:ext>
            </a:extLst>
          </p:cNvPr>
          <p:cNvCxnSpPr/>
          <p:nvPr/>
        </p:nvCxnSpPr>
        <p:spPr>
          <a:xfrm flipH="1" flipV="1">
            <a:off x="7933267" y="4563970"/>
            <a:ext cx="1013808" cy="516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5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1791E-C02D-0AA8-1667-03286B7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BE4117-4B71-032F-9FEA-18177655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/>
          <a:lstStyle/>
          <a:p>
            <a:r>
              <a:rPr lang="pl-PL" dirty="0"/>
              <a:t>Konfiguracja </a:t>
            </a:r>
            <a:r>
              <a:rPr lang="pl-PL" dirty="0" err="1"/>
              <a:t>OpenVPN</a:t>
            </a:r>
            <a:endParaRPr lang="pl-PL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2D340665-2F05-4012-2EA4-66CA503B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16666"/>
            <a:ext cx="4110132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D1295AB5-FC7E-3AF2-E93D-145780237503}"/>
              </a:ext>
            </a:extLst>
          </p:cNvPr>
          <p:cNvSpPr txBox="1"/>
          <p:nvPr/>
        </p:nvSpPr>
        <p:spPr>
          <a:xfrm>
            <a:off x="2065867" y="1676400"/>
            <a:ext cx="229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Ustawienia </a:t>
            </a:r>
            <a:r>
              <a:rPr lang="pl-PL" dirty="0" err="1"/>
              <a:t>Servera</a:t>
            </a:r>
            <a:endParaRPr lang="pl-PL" dirty="0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681C0E28-6A5E-C97B-B395-B825F228B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467" y="2010487"/>
            <a:ext cx="2971800" cy="4363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2A41C8C6-4B39-D93E-08E8-EDC27C3052E0}"/>
              </a:ext>
            </a:extLst>
          </p:cNvPr>
          <p:cNvSpPr txBox="1"/>
          <p:nvPr/>
        </p:nvSpPr>
        <p:spPr>
          <a:xfrm>
            <a:off x="8898467" y="1534952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Ustawienia </a:t>
            </a:r>
            <a:r>
              <a:rPr lang="pl-PL" dirty="0" err="1"/>
              <a:t>Clienta</a:t>
            </a:r>
            <a:r>
              <a:rPr lang="pl-PL" dirty="0"/>
              <a:t> </a:t>
            </a:r>
            <a:r>
              <a:rPr lang="pl-PL" dirty="0" err="1"/>
              <a:t>NodeRed</a:t>
            </a:r>
            <a:endParaRPr lang="pl-PL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E0C5DA4-41DF-4797-A105-D3AEEC5D0AE0}"/>
              </a:ext>
            </a:extLst>
          </p:cNvPr>
          <p:cNvSpPr txBox="1"/>
          <p:nvPr/>
        </p:nvSpPr>
        <p:spPr>
          <a:xfrm>
            <a:off x="5672667" y="158823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Ustawienia </a:t>
            </a:r>
            <a:r>
              <a:rPr lang="pl-PL" dirty="0" err="1"/>
              <a:t>Clienta</a:t>
            </a:r>
            <a:r>
              <a:rPr lang="pl-PL" dirty="0"/>
              <a:t> PLC</a:t>
            </a: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912FBC09-9B21-E489-9FEC-CA0412B31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67" y="2292337"/>
            <a:ext cx="2919227" cy="342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051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111876-0264-DCB3-6E67-0D144932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2DD0F62-2BE2-5D57-BBDE-7AB15FEF5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183" y="2264834"/>
            <a:ext cx="8706217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CD04D51F-8DF5-DA62-C218-ADA27F63A9A6}"/>
              </a:ext>
            </a:extLst>
          </p:cNvPr>
          <p:cNvSpPr txBox="1"/>
          <p:nvPr/>
        </p:nvSpPr>
        <p:spPr>
          <a:xfrm>
            <a:off x="1972733" y="1557867"/>
            <a:ext cx="310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hlinkClick r:id="rId3"/>
              </a:rPr>
              <a:t>http://127.0.0.1:1880/#flow/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97478E-93DF-F125-3D9C-EA7EA37D5CA6}"/>
              </a:ext>
            </a:extLst>
          </p:cNvPr>
          <p:cNvSpPr txBox="1"/>
          <p:nvPr/>
        </p:nvSpPr>
        <p:spPr>
          <a:xfrm>
            <a:off x="1972733" y="186478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4"/>
              </a:rPr>
              <a:t>http://127.0.0.1:1880/ui/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0873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9BE-8887-30FE-4767-F11EE054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B09E99-92E0-4721-7A9C-AB24905E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4691B50-B7A9-8FC4-9D01-76F25441C1F8}"/>
              </a:ext>
            </a:extLst>
          </p:cNvPr>
          <p:cNvSpPr txBox="1"/>
          <p:nvPr/>
        </p:nvSpPr>
        <p:spPr>
          <a:xfrm>
            <a:off x="1972733" y="1557867"/>
            <a:ext cx="310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hlinkClick r:id="rId2"/>
              </a:rPr>
              <a:t>http://127.0.0.1:1880/#flow/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6C89C8A-BB0C-4625-1814-EAA3A5FB4039}"/>
              </a:ext>
            </a:extLst>
          </p:cNvPr>
          <p:cNvSpPr txBox="1"/>
          <p:nvPr/>
        </p:nvSpPr>
        <p:spPr>
          <a:xfrm>
            <a:off x="1972733" y="186478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3"/>
              </a:rPr>
              <a:t>http://127.0.0.1:1880/ui/</a:t>
            </a:r>
            <a:endParaRPr lang="pl-PL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B3E5E6D8-F097-3E83-4195-0C6B60088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907268"/>
            <a:ext cx="9362587" cy="264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068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F787-BF17-8F03-B567-83C2FD6F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D785BB-286B-0AA0-BA94-9541D3F7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– wykorzystane </a:t>
            </a:r>
            <a:r>
              <a:rPr lang="pl-PL" dirty="0" err="1"/>
              <a:t>nodes</a:t>
            </a:r>
            <a:endParaRPr lang="pl-PL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3876318-0DFD-D6FA-EBEA-88849BEE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2171700"/>
            <a:ext cx="41529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99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C2A48-0AEF-C90F-2D17-8C911D01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5DB4A4-B967-E90A-4098-A6720632B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Dashboard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897EB51-AC92-F231-DBFF-D2D1A610205E}"/>
              </a:ext>
            </a:extLst>
          </p:cNvPr>
          <p:cNvSpPr txBox="1"/>
          <p:nvPr/>
        </p:nvSpPr>
        <p:spPr>
          <a:xfrm>
            <a:off x="1371600" y="1600200"/>
            <a:ext cx="612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2"/>
              </a:rPr>
              <a:t>https://flows.nodered.org/node/node-red-dashboard</a:t>
            </a:r>
            <a:endParaRPr lang="pl-PL" dirty="0"/>
          </a:p>
        </p:txBody>
      </p:sp>
      <p:pic>
        <p:nvPicPr>
          <p:cNvPr id="18434" name="Picture 2" descr="Dashboard example">
            <a:extLst>
              <a:ext uri="{FF2B5EF4-FFF2-40B4-BE49-F238E27FC236}">
                <a16:creationId xmlns:a16="http://schemas.microsoft.com/office/drawing/2014/main" id="{DB7D9710-1663-8A5F-5B98-21BC0B102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367" y="2171700"/>
            <a:ext cx="57150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296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D59F-BE6D-CC6C-AB0C-B0B919C8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C99A36-8BF6-69C5-75DB-3C17EF17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</a:t>
            </a:r>
            <a:r>
              <a:rPr lang="pl-PL" dirty="0" err="1"/>
              <a:t>Opc</a:t>
            </a:r>
            <a:r>
              <a:rPr lang="pl-PL" dirty="0"/>
              <a:t>-UA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C092B0F-0116-B358-10AE-88E95F08022E}"/>
              </a:ext>
            </a:extLst>
          </p:cNvPr>
          <p:cNvSpPr txBox="1"/>
          <p:nvPr/>
        </p:nvSpPr>
        <p:spPr>
          <a:xfrm>
            <a:off x="1371600" y="1600200"/>
            <a:ext cx="612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2"/>
              </a:rPr>
              <a:t>https://flows.nodered.org/node/node-red-contrib-opcua</a:t>
            </a:r>
            <a:endParaRPr lang="pl-PL" dirty="0"/>
          </a:p>
        </p:txBody>
      </p:sp>
      <p:pic>
        <p:nvPicPr>
          <p:cNvPr id="19458" name="Picture 2" descr="node-red-opcua-flow-Prosys">
            <a:extLst>
              <a:ext uri="{FF2B5EF4-FFF2-40B4-BE49-F238E27FC236}">
                <a16:creationId xmlns:a16="http://schemas.microsoft.com/office/drawing/2014/main" id="{2BD94563-ABAD-DD0B-7543-B9D3AEA7F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267" y="2212839"/>
            <a:ext cx="6456363" cy="401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113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0DA4-1355-8FD7-BAC5-81E0BCC6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089FDD-4779-5B63-55DF-629FFB79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</a:t>
            </a:r>
            <a:r>
              <a:rPr lang="pl-PL" dirty="0" err="1"/>
              <a:t>Opc</a:t>
            </a:r>
            <a:r>
              <a:rPr lang="pl-PL" dirty="0"/>
              <a:t>-UA Konfiguracja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23D8227-66DF-9C49-E3F4-0631DFD32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79" y="2347383"/>
            <a:ext cx="383857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B8DE00D6-0D17-F8E8-B897-1A6B57621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195" y="1588965"/>
            <a:ext cx="2725471" cy="47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id="{E3852C26-B131-E705-0D91-C88533EFC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359" y="1385765"/>
            <a:ext cx="2857464" cy="520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853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30BA-0A21-BFB9-E64B-03E61938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01A231-8F5F-4FDE-DEF6-E1979865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</a:t>
            </a:r>
            <a:r>
              <a:rPr lang="pl-PL" dirty="0" err="1"/>
              <a:t>Opc</a:t>
            </a:r>
            <a:r>
              <a:rPr lang="pl-PL" dirty="0"/>
              <a:t>-UA </a:t>
            </a:r>
            <a:r>
              <a:rPr lang="pl-PL" dirty="0" err="1"/>
              <a:t>Subskrybcje</a:t>
            </a:r>
            <a:r>
              <a:rPr lang="pl-PL" dirty="0"/>
              <a:t> 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BAD1E75-E1DB-4A17-C453-28A2D9AAB803}"/>
              </a:ext>
            </a:extLst>
          </p:cNvPr>
          <p:cNvSpPr txBox="1"/>
          <p:nvPr/>
        </p:nvSpPr>
        <p:spPr>
          <a:xfrm>
            <a:off x="1295400" y="1905000"/>
            <a:ext cx="5198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Zamiast wykorzystywać synchroniczne odpytywanie zmiennych możemy użyć </a:t>
            </a:r>
            <a:r>
              <a:rPr lang="pl-PL" dirty="0" err="1"/>
              <a:t>subskrybcji</a:t>
            </a:r>
            <a:r>
              <a:rPr lang="pl-PL" dirty="0"/>
              <a:t>(asynchronicznych), aby odciążyć ilość i częstotliwość wymiany danych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A1ED165-1030-520F-6C5D-2A1371D0C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381375"/>
            <a:ext cx="444817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6EAEA7CA-0A8F-881B-12DA-024613B97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124" y="1574798"/>
            <a:ext cx="2653899" cy="483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>
            <a:extLst>
              <a:ext uri="{FF2B5EF4-FFF2-40B4-BE49-F238E27FC236}">
                <a16:creationId xmlns:a16="http://schemas.microsoft.com/office/drawing/2014/main" id="{11ABA54C-25A9-0C7F-9C4E-82DE31A3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204" y="1574798"/>
            <a:ext cx="2829996" cy="483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086C96C9-4B48-DA20-102F-765BBF3446AB}"/>
              </a:ext>
            </a:extLst>
          </p:cNvPr>
          <p:cNvCxnSpPr/>
          <p:nvPr/>
        </p:nvCxnSpPr>
        <p:spPr>
          <a:xfrm>
            <a:off x="9126023" y="1428750"/>
            <a:ext cx="3065977" cy="50736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28BBD88C-821B-F6FE-9E71-8C2BF9E9F36C}"/>
              </a:ext>
            </a:extLst>
          </p:cNvPr>
          <p:cNvCxnSpPr/>
          <p:nvPr/>
        </p:nvCxnSpPr>
        <p:spPr>
          <a:xfrm flipV="1">
            <a:off x="9126023" y="1574798"/>
            <a:ext cx="3065977" cy="50292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454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525A9-AE67-EC23-1F46-512A31B1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FF4608-3D97-FD33-6413-8E388563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Dodatkowe funkcje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1A71094D-0CEB-D361-D94A-419DAD967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066" y="4098395"/>
            <a:ext cx="4953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024434BF-82AB-8C5C-B18A-09F461A5D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635655"/>
            <a:ext cx="895350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682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E4D82C-5A3C-D0AF-6ADE-8DAA0337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GitHub</a:t>
            </a: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F392F257-10CC-DE52-A831-AA80E63E5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49475"/>
            <a:ext cx="416980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96FB84F3-539E-EC6F-0604-447A4A420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42" y="1678290"/>
            <a:ext cx="3116792" cy="481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434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39CB-A98A-EF47-6803-FD0F7DF9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484708-0800-FB18-0377-40C34CAB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GitHub - </a:t>
            </a:r>
            <a:r>
              <a:rPr lang="pl-PL" dirty="0" err="1"/>
              <a:t>Commity</a:t>
            </a:r>
            <a:endParaRPr lang="pl-PL" dirty="0"/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4A92D07D-3570-CF6D-FCEE-30C11EDAE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571" y="3041650"/>
            <a:ext cx="244792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8" name="Picture 4">
            <a:extLst>
              <a:ext uri="{FF2B5EF4-FFF2-40B4-BE49-F238E27FC236}">
                <a16:creationId xmlns:a16="http://schemas.microsoft.com/office/drawing/2014/main" id="{98283445-8E65-F3DD-3C7A-F1A869BD2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305" y="1701800"/>
            <a:ext cx="1395965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495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DCEC-5E85-0365-40BC-8DFB8F3C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94A2B3-CBA0-69F2-1D76-8A6CDB5B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Node</a:t>
            </a:r>
            <a:r>
              <a:rPr lang="pl-PL" dirty="0"/>
              <a:t>-Red GitHub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40CE64BB-FFF1-AAE6-63AE-F90184AA5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867" y="1714653"/>
            <a:ext cx="9067800" cy="401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141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8C53-5F41-1D80-291B-7C7BC798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67E4A8-AE40-4B1D-E38C-9A38AD80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Publiczne Repozytorium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7E6E29E-569B-8A0A-1310-F8B1591BB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11" y="1437216"/>
            <a:ext cx="8492456" cy="3581401"/>
          </a:xfrm>
        </p:spPr>
        <p:txBody>
          <a:bodyPr/>
          <a:lstStyle/>
          <a:p>
            <a:r>
              <a:rPr lang="pl-PL" dirty="0">
                <a:hlinkClick r:id="rId2"/>
              </a:rPr>
              <a:t>https://github.com/PatrykChoinski/IoT-NodeRed-EnergyMeter</a:t>
            </a:r>
            <a:endParaRPr lang="pl-PL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C5E94AC-49C3-2894-D5DF-08B0C3ECA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398" y="1923256"/>
            <a:ext cx="9601201" cy="475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015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853CFE-A405-5C8F-D218-EF181C98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KONIEC?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D1EA421-1E30-3EDA-6422-73CDFD28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tak prędko!</a:t>
            </a:r>
          </a:p>
        </p:txBody>
      </p:sp>
    </p:spTree>
    <p:extLst>
      <p:ext uri="{BB962C8B-B14F-4D97-AF65-F5344CB8AC3E}">
        <p14:creationId xmlns:p14="http://schemas.microsoft.com/office/powerpoint/2010/main" val="2182571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D6CDC8-3F76-E2FC-FB7F-5E8A4750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GitHub </a:t>
            </a:r>
            <a:r>
              <a:rPr lang="pl-PL" dirty="0" err="1"/>
              <a:t>Actions</a:t>
            </a:r>
            <a:r>
              <a:rPr lang="pl-PL" dirty="0"/>
              <a:t> i </a:t>
            </a:r>
            <a:r>
              <a:rPr lang="pl-PL" dirty="0" err="1"/>
              <a:t>Workflows</a:t>
            </a:r>
            <a:endParaRPr lang="pl-PL" dirty="0"/>
          </a:p>
        </p:txBody>
      </p:sp>
      <p:pic>
        <p:nvPicPr>
          <p:cNvPr id="26626" name="Picture 2" descr="Czym jest CI/CD? Wprowadzenie do CI/CD dla początkujących - Blog IT-Leaders">
            <a:extLst>
              <a:ext uri="{FF2B5EF4-FFF2-40B4-BE49-F238E27FC236}">
                <a16:creationId xmlns:a16="http://schemas.microsoft.com/office/drawing/2014/main" id="{FF2D15BC-BAB3-1B30-F2B5-4286F82CB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61572"/>
            <a:ext cx="9753600" cy="488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708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59A0-F686-EE0C-29DB-A469D049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CB812D-6BFE-95DE-8414-79E9D050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GitHub </a:t>
            </a:r>
            <a:r>
              <a:rPr lang="pl-PL" dirty="0" err="1"/>
              <a:t>Actions</a:t>
            </a:r>
            <a:r>
              <a:rPr lang="pl-PL" dirty="0"/>
              <a:t> i </a:t>
            </a:r>
            <a:r>
              <a:rPr lang="pl-PL" dirty="0" err="1"/>
              <a:t>Workflows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3E73EE7-2599-DFEB-6D28-9C9DF47BFED2}"/>
              </a:ext>
            </a:extLst>
          </p:cNvPr>
          <p:cNvSpPr txBox="1"/>
          <p:nvPr/>
        </p:nvSpPr>
        <p:spPr>
          <a:xfrm>
            <a:off x="1490133" y="3889095"/>
            <a:ext cx="45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master_iot-nodered-energymeter.yml</a:t>
            </a:r>
            <a:endParaRPr lang="pl-PL" dirty="0"/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12125B25-A93D-1173-2C8A-4277A2BBB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908" y="1289523"/>
            <a:ext cx="4695825" cy="556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58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05CD-9698-4992-9D96-4DFBD94E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792BF2-C4C5-C4D4-0720-159364D9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GitHub </a:t>
            </a:r>
            <a:r>
              <a:rPr lang="pl-PL" dirty="0" err="1"/>
              <a:t>Actions</a:t>
            </a:r>
            <a:r>
              <a:rPr lang="pl-PL" dirty="0"/>
              <a:t> i </a:t>
            </a:r>
            <a:r>
              <a:rPr lang="pl-PL" dirty="0" err="1"/>
              <a:t>Workflows</a:t>
            </a:r>
            <a:endParaRPr lang="pl-PL" dirty="0"/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54300DCA-5265-BBB2-6BDC-7076691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666" y="1630737"/>
            <a:ext cx="9965267" cy="454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234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40B8-BCA1-824B-FC35-E44CFDA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277A8B-A59F-9DD4-A798-4720A337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GitHub </a:t>
            </a:r>
            <a:r>
              <a:rPr lang="pl-PL" dirty="0" err="1"/>
              <a:t>Actions</a:t>
            </a:r>
            <a:r>
              <a:rPr lang="pl-PL" dirty="0"/>
              <a:t> i </a:t>
            </a:r>
            <a:r>
              <a:rPr lang="pl-PL" dirty="0" err="1"/>
              <a:t>Workflows</a:t>
            </a:r>
            <a:endParaRPr lang="pl-PL" dirty="0"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9D75A91A-73C0-A580-9173-E742B3120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9" y="1638693"/>
            <a:ext cx="8703733" cy="478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574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0DB2-CE65-22C7-3A95-BE8AB159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2C406C-E082-C05D-F694-427DB1E2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GitHub </a:t>
            </a:r>
            <a:r>
              <a:rPr lang="pl-PL" dirty="0" err="1"/>
              <a:t>Actions</a:t>
            </a:r>
            <a:r>
              <a:rPr lang="pl-PL" dirty="0"/>
              <a:t> i </a:t>
            </a:r>
            <a:r>
              <a:rPr lang="pl-PL" dirty="0" err="1"/>
              <a:t>Workflows</a:t>
            </a:r>
            <a:endParaRPr lang="pl-PL" dirty="0"/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72FE0551-70B3-BD5A-13A7-2A487FFB1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466" y="1630804"/>
            <a:ext cx="9355667" cy="454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390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E172-88AA-0278-5419-1009B2A2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624011-E41E-14E7-D2A2-11891385C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Hosting na </a:t>
            </a:r>
            <a:r>
              <a:rPr lang="pl-PL" dirty="0" err="1"/>
              <a:t>Azure</a:t>
            </a:r>
            <a:endParaRPr lang="pl-PL" dirty="0"/>
          </a:p>
        </p:txBody>
      </p:sp>
      <p:pic>
        <p:nvPicPr>
          <p:cNvPr id="34818" name="Picture 2" descr="Deploying to Azure using GitHub Actions and Terraform Cloud | Road to Cloud">
            <a:extLst>
              <a:ext uri="{FF2B5EF4-FFF2-40B4-BE49-F238E27FC236}">
                <a16:creationId xmlns:a16="http://schemas.microsoft.com/office/drawing/2014/main" id="{E52A38F0-2239-338E-9618-9B4DADA2C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599" y="1637659"/>
            <a:ext cx="9965267" cy="467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13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B445-3A73-FC16-EDB7-290FAD2A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718EE2-7F71-8326-0761-5D0DBB87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 err="1"/>
              <a:t>Azure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6AFEC33-7E56-963E-0228-9A13901221E1}"/>
              </a:ext>
            </a:extLst>
          </p:cNvPr>
          <p:cNvSpPr txBox="1"/>
          <p:nvPr/>
        </p:nvSpPr>
        <p:spPr>
          <a:xfrm>
            <a:off x="1278466" y="1532467"/>
            <a:ext cx="9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2"/>
              </a:rPr>
              <a:t>https://iot-nodered-energymeter-a0bgd5fhd3cwhsgj.polandcentral-01.azurewebsites.net/red</a:t>
            </a:r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2B22885-91BF-BF93-3C0F-135E023FAB43}"/>
              </a:ext>
            </a:extLst>
          </p:cNvPr>
          <p:cNvSpPr txBox="1"/>
          <p:nvPr/>
        </p:nvSpPr>
        <p:spPr>
          <a:xfrm>
            <a:off x="1278466" y="1950999"/>
            <a:ext cx="9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3"/>
              </a:rPr>
              <a:t>https://iot-nodered-energymeter-a0bgd5fhd3cwhsgj.polandcentral-01.azurewebsites.net/ui</a:t>
            </a:r>
            <a:endParaRPr lang="pl-PL" dirty="0"/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BB2B73FA-C306-C502-E30E-2BBE43FDC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097" y="2646684"/>
            <a:ext cx="3585104" cy="397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293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8E19-36CB-73DF-041A-2BFB720E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3EA9C4-B11B-2C90-B3E2-7A716499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MS </a:t>
            </a:r>
            <a:r>
              <a:rPr lang="pl-PL" dirty="0" err="1"/>
              <a:t>Azure</a:t>
            </a:r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CB48949-874D-63EF-7EDB-DB7E1D868D0C}"/>
              </a:ext>
            </a:extLst>
          </p:cNvPr>
          <p:cNvSpPr txBox="1"/>
          <p:nvPr/>
        </p:nvSpPr>
        <p:spPr>
          <a:xfrm>
            <a:off x="1278466" y="1532467"/>
            <a:ext cx="9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2"/>
              </a:rPr>
              <a:t>https://iot-nodered-energymeter-a0bgd5fhd3cwhsgj.polandcentral-01.azurewebsites.net/red</a:t>
            </a:r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353EEC3-1984-B77D-7460-E4101F9413D1}"/>
              </a:ext>
            </a:extLst>
          </p:cNvPr>
          <p:cNvSpPr txBox="1"/>
          <p:nvPr/>
        </p:nvSpPr>
        <p:spPr>
          <a:xfrm>
            <a:off x="1278466" y="1950999"/>
            <a:ext cx="9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3"/>
              </a:rPr>
              <a:t>https://iot-nodered-energymeter-a0bgd5fhd3cwhsgj.polandcentral-01.azurewebsites.net/ui</a:t>
            </a:r>
            <a:endParaRPr lang="pl-PL" dirty="0"/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97D51321-CC8F-B8B7-902D-11BC287CB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09825"/>
            <a:ext cx="812800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349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78665-94C0-B083-AE19-EA0A1728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2BFD4E-746E-BAF6-4CAB-3B069193D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r>
              <a:rPr lang="pl-PL" dirty="0"/>
              <a:t>Dostęp do logów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7F5EDB94-9BA5-F7B6-437D-B12BF1CCF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1413933"/>
            <a:ext cx="9077325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041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C314-2587-1AE4-1348-AD18E1C1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74CF5-FE35-6DD1-9C24-FFD62EF3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 fontScale="90000"/>
          </a:bodyPr>
          <a:lstStyle/>
          <a:p>
            <a:r>
              <a:rPr lang="pl-PL" dirty="0"/>
              <a:t>Jak połączyć </a:t>
            </a:r>
            <a:r>
              <a:rPr lang="pl-PL" dirty="0" err="1"/>
              <a:t>Cloud</a:t>
            </a:r>
            <a:r>
              <a:rPr lang="pl-PL" dirty="0"/>
              <a:t> </a:t>
            </a:r>
            <a:r>
              <a:rPr lang="pl-PL" dirty="0" err="1"/>
              <a:t>Azure</a:t>
            </a:r>
            <a:r>
              <a:rPr lang="pl-PL" dirty="0"/>
              <a:t> z Siecią PLC/OPC?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DE348958-91C2-C385-AA36-5ACCD7DA1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667" y="1540933"/>
            <a:ext cx="10152506" cy="430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317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C086-C865-3040-E0AC-053C4F4CC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CF2DDC-B38E-C583-1698-E75C1B8B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/>
          </a:bodyPr>
          <a:lstStyle/>
          <a:p>
            <a:r>
              <a:rPr lang="pl-PL" dirty="0" err="1"/>
              <a:t>Azure</a:t>
            </a:r>
            <a:r>
              <a:rPr lang="pl-PL" dirty="0"/>
              <a:t> Virtual Network Gateway</a:t>
            </a: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CF53E327-D2FB-4B3B-EA59-15BEF518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34" y="1865453"/>
            <a:ext cx="3780367" cy="430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2" name="Picture 6">
            <a:extLst>
              <a:ext uri="{FF2B5EF4-FFF2-40B4-BE49-F238E27FC236}">
                <a16:creationId xmlns:a16="http://schemas.microsoft.com/office/drawing/2014/main" id="{2534A7C5-9062-8D4B-90AA-6FD7795F9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27" y="2794000"/>
            <a:ext cx="7063198" cy="151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882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2BA9-D95C-279D-8A41-FE1A82E3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087730-0E5A-51D9-4D9A-E02CF516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/>
          </a:bodyPr>
          <a:lstStyle/>
          <a:p>
            <a:r>
              <a:rPr lang="pl-PL" dirty="0"/>
              <a:t>Point To Site </a:t>
            </a:r>
            <a:r>
              <a:rPr lang="pl-PL" dirty="0" err="1"/>
              <a:t>Configuration</a:t>
            </a:r>
            <a:endParaRPr lang="pl-PL" dirty="0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ADA4C162-9BC9-F2F8-4FEF-1E3E75A4F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833205"/>
            <a:ext cx="9702800" cy="443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3810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9DCD-C896-6A12-2BEA-05F52053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3B3932-E0C1-6EF6-2F40-AE96E3E3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/>
          </a:bodyPr>
          <a:lstStyle/>
          <a:p>
            <a:r>
              <a:rPr lang="pl-PL" dirty="0"/>
              <a:t>Generowanie Certyfikatu dla </a:t>
            </a:r>
            <a:r>
              <a:rPr lang="pl-PL" dirty="0" err="1"/>
              <a:t>Azure</a:t>
            </a:r>
            <a:endParaRPr lang="pl-PL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C06C538F-461E-3CCE-FED0-DCD9E08B7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296" y="1761596"/>
            <a:ext cx="1050607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54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C145-7B52-F9ED-543A-F3D63289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320988-18BD-76D1-8EF5-1163D48D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/>
          </a:bodyPr>
          <a:lstStyle/>
          <a:p>
            <a:r>
              <a:rPr lang="pl-PL" dirty="0"/>
              <a:t>Generowanie Certyfikatu dla </a:t>
            </a:r>
            <a:r>
              <a:rPr lang="pl-PL" dirty="0" err="1"/>
              <a:t>Azure</a:t>
            </a:r>
            <a:endParaRPr lang="pl-PL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6832387F-C2B8-7002-0F01-5649157B7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556" y="1473200"/>
            <a:ext cx="9121244" cy="217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>
            <a:extLst>
              <a:ext uri="{FF2B5EF4-FFF2-40B4-BE49-F238E27FC236}">
                <a16:creationId xmlns:a16="http://schemas.microsoft.com/office/drawing/2014/main" id="{F2E2727A-BE83-5DEA-369E-280E6B2E8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129" y="3794763"/>
            <a:ext cx="3885671" cy="277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451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420F-359F-E81D-4492-40C68028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868601-7975-46EE-AEBC-F336034F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/>
          </a:bodyPr>
          <a:lstStyle/>
          <a:p>
            <a:r>
              <a:rPr lang="pl-PL" dirty="0"/>
              <a:t>Eksport klucza do postaci nie binarnej</a:t>
            </a:r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D8487DD4-BB22-E3A1-875F-728D6BFE9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1655233"/>
            <a:ext cx="508635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6" name="Picture 4">
            <a:extLst>
              <a:ext uri="{FF2B5EF4-FFF2-40B4-BE49-F238E27FC236}">
                <a16:creationId xmlns:a16="http://schemas.microsoft.com/office/drawing/2014/main" id="{45B38A15-DD75-BD38-1BF4-4645C09E3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283" y="4190781"/>
            <a:ext cx="3989916" cy="252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8" name="Picture 6">
            <a:extLst>
              <a:ext uri="{FF2B5EF4-FFF2-40B4-BE49-F238E27FC236}">
                <a16:creationId xmlns:a16="http://schemas.microsoft.com/office/drawing/2014/main" id="{AD07FBF2-EBA9-80D9-21FC-64F0FF773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321" y="1481356"/>
            <a:ext cx="492442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642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B15BF-F75E-35E2-0F24-5747A2DA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92A70B-020D-C8E1-B6B5-FC0CB323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/>
          </a:bodyPr>
          <a:lstStyle/>
          <a:p>
            <a:r>
              <a:rPr lang="pl-PL" dirty="0"/>
              <a:t>Pobranie konfiguracji </a:t>
            </a:r>
            <a:r>
              <a:rPr lang="pl-PL" dirty="0" err="1"/>
              <a:t>ovpn</a:t>
            </a:r>
            <a:endParaRPr lang="pl-PL" dirty="0"/>
          </a:p>
        </p:txBody>
      </p:sp>
      <p:pic>
        <p:nvPicPr>
          <p:cNvPr id="45058" name="Picture 2">
            <a:extLst>
              <a:ext uri="{FF2B5EF4-FFF2-40B4-BE49-F238E27FC236}">
                <a16:creationId xmlns:a16="http://schemas.microsoft.com/office/drawing/2014/main" id="{2D15E597-1514-46CB-692B-184FA6AE7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05" y="1447800"/>
            <a:ext cx="43529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0" name="Picture 4">
            <a:extLst>
              <a:ext uri="{FF2B5EF4-FFF2-40B4-BE49-F238E27FC236}">
                <a16:creationId xmlns:a16="http://schemas.microsoft.com/office/drawing/2014/main" id="{601E13A2-BF6E-14F4-6A01-0D449283F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05" y="2224088"/>
            <a:ext cx="508635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9288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0B402-4AE5-AF5A-DA32-75BFC974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7A25E7-1CC9-65F3-B8AB-8349DF09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>
            <a:normAutofit fontScale="90000"/>
          </a:bodyPr>
          <a:lstStyle/>
          <a:p>
            <a:r>
              <a:rPr lang="pl-PL" dirty="0"/>
              <a:t>Dodanie certyfikatu i klucza prywatnego na bazie certyfikatu publicznego</a:t>
            </a:r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02E3D5F5-EF85-0B32-E8D9-1346D7CB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983" y="2351643"/>
            <a:ext cx="2808817" cy="382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52422A76-578A-9D4F-6BFD-404D8F6409F5}"/>
              </a:ext>
            </a:extLst>
          </p:cNvPr>
          <p:cNvSpPr txBox="1"/>
          <p:nvPr/>
        </p:nvSpPr>
        <p:spPr>
          <a:xfrm>
            <a:off x="1439333" y="2277533"/>
            <a:ext cx="5875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Plik </a:t>
            </a:r>
            <a:r>
              <a:rPr lang="pl-PL" dirty="0" err="1"/>
              <a:t>openvpn</a:t>
            </a:r>
            <a:r>
              <a:rPr lang="pl-PL" dirty="0"/>
              <a:t> - .</a:t>
            </a:r>
            <a:r>
              <a:rPr lang="pl-PL" dirty="0" err="1"/>
              <a:t>ovpn</a:t>
            </a:r>
            <a:r>
              <a:rPr lang="pl-PL" dirty="0"/>
              <a:t> nie jest kompletny dopóki nie </a:t>
            </a:r>
            <a:r>
              <a:rPr lang="pl-PL" dirty="0" err="1"/>
              <a:t>wpiszemu</a:t>
            </a:r>
            <a:r>
              <a:rPr lang="pl-PL" dirty="0"/>
              <a:t> mu certyfikatu i klucza prywatnego, który możemy wygenerować na bazie certyfikatu publicznego, który udostępniliśmy do </a:t>
            </a:r>
            <a:r>
              <a:rPr lang="pl-PL" dirty="0" err="1"/>
              <a:t>Azure</a:t>
            </a:r>
            <a:r>
              <a:rPr lang="pl-PL" dirty="0"/>
              <a:t> </a:t>
            </a:r>
            <a:r>
              <a:rPr lang="pl-PL" dirty="0" err="1"/>
              <a:t>Virutal</a:t>
            </a:r>
            <a:r>
              <a:rPr lang="pl-PL" dirty="0"/>
              <a:t> Gateway Network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E85AB98C-A0A2-2AC8-D379-BDEBBCDF6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484" y="3760788"/>
            <a:ext cx="4914900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626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D98C-32A0-DB7E-C804-EDF7F5BE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061EA2-FB2F-FE70-0506-1EA3A05E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DZIĘKUJEMY ZA UWAGE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A657A43-3FB3-24D7-DFF0-39503D0F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już koniec!</a:t>
            </a:r>
          </a:p>
        </p:txBody>
      </p:sp>
    </p:spTree>
    <p:extLst>
      <p:ext uri="{BB962C8B-B14F-4D97-AF65-F5344CB8AC3E}">
        <p14:creationId xmlns:p14="http://schemas.microsoft.com/office/powerpoint/2010/main" val="2850711724"/>
      </p:ext>
    </p:extLst>
  </p:cSld>
  <p:clrMapOvr>
    <a:masterClrMapping/>
  </p:clrMapOvr>
</p:sld>
</file>

<file path=ppt/theme/theme1.xml><?xml version="1.0" encoding="utf-8"?>
<a:theme xmlns:a="http://schemas.openxmlformats.org/drawingml/2006/main" name="Przycinani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216_TF34357615.potx" id="{60C9DDAB-F81A-442E-9941-1ACA67C11BD5}" vid="{1548D0C0-3204-47DB-9E61-EA862236B0DC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Projekt Przycięcie</Template>
  <TotalTime>146</TotalTime>
  <Words>414</Words>
  <Application>Microsoft Office PowerPoint</Application>
  <PresentationFormat>Panoramiczny</PresentationFormat>
  <Paragraphs>86</Paragraphs>
  <Slides>47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47</vt:i4>
      </vt:variant>
    </vt:vector>
  </HeadingPairs>
  <TitlesOfParts>
    <vt:vector size="51" baseType="lpstr">
      <vt:lpstr>Arial</vt:lpstr>
      <vt:lpstr>Calibri</vt:lpstr>
      <vt:lpstr>Franklin Gothic Book</vt:lpstr>
      <vt:lpstr>Przycinanie</vt:lpstr>
      <vt:lpstr>INTERNET RZECZY</vt:lpstr>
      <vt:lpstr>System odczytu liczników energii za pośrednictwem sieci Modbus RTU</vt:lpstr>
      <vt:lpstr>INTERPRETACJA TEMATU</vt:lpstr>
      <vt:lpstr>ZESTAWIENIE SPRZĘTU</vt:lpstr>
      <vt:lpstr>TECHNOLOGIE</vt:lpstr>
      <vt:lpstr>Publiczne Repozytorium</vt:lpstr>
      <vt:lpstr>Podłączenie Miernika </vt:lpstr>
      <vt:lpstr>MODBUS RTU</vt:lpstr>
      <vt:lpstr>MODBUS RTU</vt:lpstr>
      <vt:lpstr>MODBUS 2x Word -&gt; Float. Jak to zrobić?</vt:lpstr>
      <vt:lpstr>Oczywiście użycie Unii </vt:lpstr>
      <vt:lpstr>OPC UA</vt:lpstr>
      <vt:lpstr>OPC UA – sprawdzenie OPC WATCH</vt:lpstr>
      <vt:lpstr>Dostęp do węzła zmiennej w OPC UA</vt:lpstr>
      <vt:lpstr>Konfiguracja OpenVPN</vt:lpstr>
      <vt:lpstr>Konfiguracja OpenVPN</vt:lpstr>
      <vt:lpstr>Node-Red</vt:lpstr>
      <vt:lpstr>Node-Red</vt:lpstr>
      <vt:lpstr>Node-Red – wykorzystane nodes</vt:lpstr>
      <vt:lpstr>Node-Red Dashboard</vt:lpstr>
      <vt:lpstr>Node-Red Opc-UA</vt:lpstr>
      <vt:lpstr>Node-Red Opc-UA Konfiguracja</vt:lpstr>
      <vt:lpstr>Node-Red Opc-UA Subskrybcje </vt:lpstr>
      <vt:lpstr>Node-Red Dodatkowe funkcje</vt:lpstr>
      <vt:lpstr>Node-Red GitHub</vt:lpstr>
      <vt:lpstr>Node-Red GitHub - Commity</vt:lpstr>
      <vt:lpstr>Node-Red GitHub</vt:lpstr>
      <vt:lpstr>Publiczne Repozytorium</vt:lpstr>
      <vt:lpstr>KONIEC?</vt:lpstr>
      <vt:lpstr>GitHub Actions i Workflows</vt:lpstr>
      <vt:lpstr>GitHub Actions i Workflows</vt:lpstr>
      <vt:lpstr>GitHub Actions i Workflows</vt:lpstr>
      <vt:lpstr>GitHub Actions i Workflows</vt:lpstr>
      <vt:lpstr>GitHub Actions i Workflows</vt:lpstr>
      <vt:lpstr>Hosting na Azure</vt:lpstr>
      <vt:lpstr>Azure</vt:lpstr>
      <vt:lpstr>MS Azure</vt:lpstr>
      <vt:lpstr>Dostęp do logów</vt:lpstr>
      <vt:lpstr>Jak połączyć Cloud Azure z Siecią PLC/OPC?</vt:lpstr>
      <vt:lpstr>Azure Virtual Network Gateway</vt:lpstr>
      <vt:lpstr>Point To Site Configuration</vt:lpstr>
      <vt:lpstr>Generowanie Certyfikatu dla Azure</vt:lpstr>
      <vt:lpstr>Generowanie Certyfikatu dla Azure</vt:lpstr>
      <vt:lpstr>Eksport klucza do postaci nie binarnej</vt:lpstr>
      <vt:lpstr>Pobranie konfiguracji ovpn</vt:lpstr>
      <vt:lpstr>Dodanie certyfikatu i klucza prywatnego na bazie certyfikatu publicznego</vt:lpstr>
      <vt:lpstr>DZIĘKUJEMY ZA UWAGE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InduTech</dc:creator>
  <cp:lastModifiedBy>InduTech</cp:lastModifiedBy>
  <cp:revision>3</cp:revision>
  <dcterms:created xsi:type="dcterms:W3CDTF">2025-11-04T08:11:18Z</dcterms:created>
  <dcterms:modified xsi:type="dcterms:W3CDTF">2025-11-04T10:37:27Z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